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71" r:id="rId6"/>
    <p:sldId id="272" r:id="rId7"/>
    <p:sldId id="342" r:id="rId8"/>
    <p:sldId id="341" r:id="rId9"/>
    <p:sldId id="339" r:id="rId10"/>
    <p:sldId id="344" r:id="rId11"/>
    <p:sldId id="273" r:id="rId12"/>
    <p:sldId id="343" r:id="rId13"/>
    <p:sldId id="274" r:id="rId14"/>
    <p:sldId id="277" r:id="rId15"/>
    <p:sldId id="262" r:id="rId16"/>
    <p:sldId id="257" r:id="rId17"/>
    <p:sldId id="263" r:id="rId18"/>
    <p:sldId id="264" r:id="rId19"/>
    <p:sldId id="265" r:id="rId20"/>
    <p:sldId id="268" r:id="rId21"/>
    <p:sldId id="270" r:id="rId22"/>
    <p:sldId id="269" r:id="rId23"/>
    <p:sldId id="266" r:id="rId24"/>
    <p:sldId id="279" r:id="rId25"/>
    <p:sldId id="345" r:id="rId26"/>
    <p:sldId id="278" r:id="rId27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90"/>
    <p:restoredTop sz="94783"/>
  </p:normalViewPr>
  <p:slideViewPr>
    <p:cSldViewPr snapToGrid="0">
      <p:cViewPr varScale="1">
        <p:scale>
          <a:sx n="93" d="100"/>
          <a:sy n="93" d="100"/>
        </p:scale>
        <p:origin x="3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8E473-3312-A64B-9388-2755D17D9962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448D-43A4-7246-B99B-A290937B0D11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5100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那這其中會牽涉到像是跟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conductivity 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有關的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boundary conditions，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以及當然電位差相對的，所以量測到的數據一定會有個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 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電極。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B97C5-9A12-8041-9006-8EC1AFD237AB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99857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B97C5-9A12-8041-9006-8EC1AFD237AB}" type="slidenum">
              <a:rPr lang="en-TW" smtClean="0"/>
              <a:t>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508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5A8-DDC1-E14B-4C6D-A5174530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6815-8EE4-6499-5560-E7E5B5379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62B42-0416-28AC-B0A1-6515760D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416B2-9F3E-067D-FAB6-8165FE49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D09CB-6112-FD9D-FCA7-9D3E8B7B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2678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B24B-6FB3-977F-5375-CA8991FA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CD90-D77D-E3F5-7824-F33862AA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0B043-5D9A-75D5-4AEC-5270407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29FA-5C79-B811-3004-61F9E4F5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482A-9BBB-3621-BB07-7277A1B7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0765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4DC1-E001-0493-F625-0988B8F5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1DEFB-B2EE-32CC-0EC9-F39EF603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56038-FF8F-59DC-3775-5E008057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125B8-DC73-8A31-C8DF-3CA68021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E3BE-0AEE-FC83-A536-A6734824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3157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7F73-AD89-9667-E73D-3C5E927B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0588E-89BB-F835-17F7-23D047293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F7EC4-F052-04E1-9E18-72CEAA312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8751-50F8-5549-2662-7693F12A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0CEB9-E91C-8EF6-149D-22150119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256E2-D5D6-E237-35D2-0A938F3D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6461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4784-B9D1-128B-702B-B98853AE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16019-5191-E87F-FC3C-A584030FE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1B5DB-393C-5DB0-CDC1-D5B3028E8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8485D-1715-D8BB-7360-B882359B7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00AE0-94F3-7C77-2696-261EAD291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CB3F6-1B1A-C03F-AC8C-C57C440A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AE780-EECC-9BEC-6F48-ED5A50B2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63A43-6634-BA47-3D60-767C1634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6654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6C58-AC91-61A3-E591-C86DF4F6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BC74A-7348-E139-05C8-8B9851B5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2D04F-B489-AE78-CC24-E78BBA69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F97EB-09FB-DE34-3D5B-939D4391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274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91BE5-B3BA-5124-F104-AE1856E4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BD985-E8A8-7382-43E3-E57FAF4D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A0E-72E8-2FEE-148B-58DA3E02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3260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90CF-94B3-E26C-11E7-D4E89F29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7595-2779-0C88-944F-E70BF711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3CCD4-0D46-6829-EBB8-05BC8C310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52595-E255-4DEF-D29C-88F9B653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22E5A-E9B4-E4BB-3FE1-EBBBE91F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7C52F-2450-700C-B411-8A40359D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9809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527A-40E7-2C1F-C0C5-C4EB0C38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F8384-4E76-68B2-6940-5D56C7177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0F33C-3583-A704-5643-E721DF6F6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D7734-8899-C46A-ADF5-41304F8C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8E3CC-3D32-B3D9-68FF-9E8452FD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C3A1F-FFF1-486C-5B91-38F51AA9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6292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8062-9841-2E8B-89B3-A0B6E27D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CEE33-D3F3-7A2F-5217-E77DCFFB5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39046-B11D-7C10-820C-96F28AD5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551B-6D72-2EFA-BFDF-7F05C5D5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E3584-A69F-DD43-A48A-9A683E80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1745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53DD0-B158-0EB8-2F2C-4DA4EA4F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AC4F7-48E9-7D95-CAA3-829D009D4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5D579-07B1-C9CC-894B-9BFDF8FA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0709-E22B-221B-8173-0E09C94D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69495-01F1-54A4-CF6B-EF4D13DD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1406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EC05DE-CCA6-61E3-6FEE-47D7DEBA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8AE2-31E9-A221-2A6A-9D34013B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C36E3-51F2-D7A1-D6C8-3D49F2D2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8A83E-7215-F541-8A79-AF9A91332834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7DC9-5BE8-2033-C4A7-1F819C25C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49EE8-D41F-1DF9-AADC-AA3DD484F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F1E0-062A-C340-B3A6-7176D5F0712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4399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6.1914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5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jpg"/><Relationship Id="rId5" Type="http://schemas.openxmlformats.org/officeDocument/2006/relationships/image" Target="../media/image9.jpg"/><Relationship Id="rId10" Type="http://schemas.openxmlformats.org/officeDocument/2006/relationships/hyperlink" Target="https://mitpress.mit.edu/9780262525855/an-introduction-to-the-event-related-potential-technique/" TargetMode="External"/><Relationship Id="rId4" Type="http://schemas.microsoft.com/office/2007/relationships/hdphoto" Target="../media/hdphoto4.wdp"/><Relationship Id="rId9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euromechanist.github.io/data/hb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eg2025.github.io/" TargetMode="External"/><Relationship Id="rId4" Type="http://schemas.openxmlformats.org/officeDocument/2006/relationships/hyperlink" Target="https://github.com/amandalin047/brainhack-ntu/blob/main/talk-12-06-2025.ipynb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roceedings.neurips.cc/paper_files/paper/2017/file/3f5ee243547dee91fbd053c1c4a845aa-Paper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mandalin047/brainhack-ntu/blob/main/talk-12-06-2025.ipynb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C8AF92-0C39-C8B7-7D9F-89EDE4E3D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brightnessContrast bright="-69000" contrast="-3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44448" cy="69965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9A193-1D36-F267-8BE6-D974F47FA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0" y="1383289"/>
            <a:ext cx="11028217" cy="2387600"/>
          </a:xfrm>
        </p:spPr>
        <p:txBody>
          <a:bodyPr>
            <a:normAutofit fontScale="90000"/>
          </a:bodyPr>
          <a:lstStyle/>
          <a:p>
            <a:r>
              <a:rPr lang="en-TW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From Raw EEG to Embeddings:</a:t>
            </a:r>
            <a:br>
              <a:rPr lang="en-TW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</a:br>
            <a:r>
              <a:rPr lang="en-TW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Task Label Prediction</a:t>
            </a:r>
            <a:br>
              <a:rPr lang="en-TW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</a:br>
            <a:r>
              <a:rPr lang="en-TW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via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636FA-AAAC-B5B8-E4E5-EC10CB3F2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8091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TW" dirty="0">
                <a:solidFill>
                  <a:schemeClr val="bg1"/>
                </a:solidFill>
              </a:rPr>
              <a:t>𝒜𝓂𝒶𝓃𝒹𝒶 ℒ𝒾𝓃</a:t>
            </a:r>
          </a:p>
          <a:p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Graduate Institute of Linguistics</a:t>
            </a:r>
          </a:p>
          <a:p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(&amp; Data Science Degree Program),</a:t>
            </a:r>
          </a:p>
          <a:p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National Taiwan University</a:t>
            </a:r>
          </a:p>
        </p:txBody>
      </p:sp>
    </p:spTree>
    <p:extLst>
      <p:ext uri="{BB962C8B-B14F-4D97-AF65-F5344CB8AC3E}">
        <p14:creationId xmlns:p14="http://schemas.microsoft.com/office/powerpoint/2010/main" val="297671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7007C7-A4AB-481D-EE84-0E96AFCB1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73000" contrast="-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99765" y="-36862"/>
            <a:ext cx="12713437" cy="6991844"/>
          </a:xfr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472571-24EA-E1A9-CD5A-15734392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353799" y="1690688"/>
            <a:ext cx="450273" cy="2022330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43C24-877B-E627-4CEE-FC1408F0C4A2}"/>
              </a:ext>
            </a:extLst>
          </p:cNvPr>
          <p:cNvSpPr txBox="1"/>
          <p:nvPr/>
        </p:nvSpPr>
        <p:spPr>
          <a:xfrm>
            <a:off x="446808" y="2913075"/>
            <a:ext cx="111321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When Biological Neural Networks Meet Artificial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42555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AB3D-2E1B-D3A2-CCEE-5D86A5F8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Neuron vs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55D83-DD57-E3C8-A039-D26B759C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6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TW" sz="3600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🧠 Neuron:</a:t>
            </a:r>
          </a:p>
          <a:p>
            <a:r>
              <a:rPr lang="en-TW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A nerve cell. Neurons are the fundamental units of the brain and nervous system.</a:t>
            </a:r>
          </a:p>
          <a:p>
            <a:endParaRPr lang="en-TW" dirty="0">
              <a:latin typeface="Euphemia UCAS" panose="020B0503040102020104" pitchFamily="34" charset="-79"/>
              <a:ea typeface="Annai MN" pitchFamily="2" charset="77"/>
              <a:cs typeface="Euphemia UCAS" panose="020B0503040102020104" pitchFamily="34" charset="-79"/>
            </a:endParaRPr>
          </a:p>
          <a:p>
            <a:endParaRPr lang="en-TW" dirty="0">
              <a:latin typeface="Euphemia UCAS" panose="020B0503040102020104" pitchFamily="34" charset="-79"/>
              <a:ea typeface="Annai MN" pitchFamily="2" charset="77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sz="3600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🤖 Neuron:</a:t>
            </a:r>
          </a:p>
          <a:p>
            <a:r>
              <a:rPr lang="en-TW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A computational unit that processes input data before passing the information on to the next layer.</a:t>
            </a:r>
          </a:p>
        </p:txBody>
      </p:sp>
    </p:spTree>
    <p:extLst>
      <p:ext uri="{BB962C8B-B14F-4D97-AF65-F5344CB8AC3E}">
        <p14:creationId xmlns:p14="http://schemas.microsoft.com/office/powerpoint/2010/main" val="99045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2248-B707-B455-7B7B-1891AD85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86AE-E112-CAA2-D54D-7406FFB0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Epoch vs Epoch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85D4-3B81-426A-3FA0-BEDF5E31F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6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TW" sz="3600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🧠 Epoch:</a:t>
            </a:r>
          </a:p>
          <a:p>
            <a:r>
              <a:rPr lang="en-TW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In EEG/ERP, an epoch refers to a specific time window, e.g.,</a:t>
            </a:r>
          </a:p>
          <a:p>
            <a:pPr marL="0" indent="0">
              <a:buNone/>
            </a:pPr>
            <a:r>
              <a:rPr lang="en-TW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 -100 ms – +1000 ms.</a:t>
            </a:r>
          </a:p>
          <a:p>
            <a:endParaRPr lang="en-TW" dirty="0">
              <a:latin typeface="Euphemia UCAS" panose="020B0503040102020104" pitchFamily="34" charset="-79"/>
              <a:ea typeface="Annai MN" pitchFamily="2" charset="77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sz="3600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🤖 Epoch:</a:t>
            </a:r>
          </a:p>
          <a:p>
            <a:r>
              <a:rPr lang="en-TW" dirty="0">
                <a:latin typeface="Euphemia UCAS" panose="020B0503040102020104" pitchFamily="34" charset="-79"/>
                <a:ea typeface="Annai MN" pitchFamily="2" charset="77"/>
                <a:cs typeface="Euphemia UCAS" panose="020B0503040102020104" pitchFamily="34" charset="-79"/>
              </a:rPr>
              <a:t>In machine learning, an epoch refers to an iteration over the entire dataset during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337966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817A-78A4-A4F0-3E01-6285D269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3DDF277E-FB31-71C6-DA7F-F94A1AEE9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73000" contrast="-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99765" y="-36862"/>
            <a:ext cx="12713437" cy="699184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E317DC-F6CB-53A5-2671-B20D43C0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353799" y="1690688"/>
            <a:ext cx="450273" cy="2022330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0A81C-F9B6-4E96-D51E-9F497F661E3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9" y="4544291"/>
            <a:ext cx="242455" cy="1632672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CE58F-5520-16A7-A5BB-5A6863EC7371}"/>
              </a:ext>
            </a:extLst>
          </p:cNvPr>
          <p:cNvSpPr txBox="1"/>
          <p:nvPr/>
        </p:nvSpPr>
        <p:spPr>
          <a:xfrm>
            <a:off x="529936" y="2928188"/>
            <a:ext cx="111321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Motivation: Why EEG “Representational Embeddings”?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2A65B-ACD5-4BC8-658C-94A08ACB31E5}"/>
              </a:ext>
            </a:extLst>
          </p:cNvPr>
          <p:cNvSpPr txBox="1"/>
          <p:nvPr/>
        </p:nvSpPr>
        <p:spPr>
          <a:xfrm>
            <a:off x="1246907" y="5360627"/>
            <a:ext cx="831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400" strike="sngStrike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Short answer:</a:t>
            </a:r>
          </a:p>
          <a:p>
            <a:r>
              <a:rPr lang="en-TW" sz="2400" strike="sngStrike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Because I just so happened to find the</a:t>
            </a:r>
          </a:p>
          <a:p>
            <a:r>
              <a:rPr lang="en-TW" sz="2400" strike="sngStrike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NeurIPS EEG Challenge on Discord (✕)</a:t>
            </a:r>
          </a:p>
        </p:txBody>
      </p:sp>
    </p:spTree>
    <p:extLst>
      <p:ext uri="{BB962C8B-B14F-4D97-AF65-F5344CB8AC3E}">
        <p14:creationId xmlns:p14="http://schemas.microsoft.com/office/powerpoint/2010/main" val="267678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E1CD-CF53-D78D-D0F7-10477820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244ABE-8210-5D6C-2386-7A7F5EB0B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780" t="15356" r="9013" b="19054"/>
          <a:stretch>
            <a:fillRect/>
          </a:stretch>
        </p:blipFill>
        <p:spPr>
          <a:xfrm>
            <a:off x="138545" y="125123"/>
            <a:ext cx="6867308" cy="38234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7A58A-CF41-B362-E835-A2DA6D35FB28}"/>
              </a:ext>
            </a:extLst>
          </p:cNvPr>
          <p:cNvSpPr txBox="1"/>
          <p:nvPr/>
        </p:nvSpPr>
        <p:spPr>
          <a:xfrm>
            <a:off x="304799" y="3988492"/>
            <a:ext cx="4073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paper at arXiv</a:t>
            </a:r>
            <a:endParaRPr lang="en-TW" sz="2400" dirty="0">
              <a:solidFill>
                <a:schemeClr val="bg2">
                  <a:lumMod val="75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3F3B90-A464-7B4D-8E37-940382670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19" t="15432" r="2744" b="34692"/>
          <a:stretch>
            <a:fillRect/>
          </a:stretch>
        </p:blipFill>
        <p:spPr>
          <a:xfrm>
            <a:off x="5160768" y="3311236"/>
            <a:ext cx="6892688" cy="3283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5AE215-A052-C407-C5D4-146E0DE4E79B}"/>
              </a:ext>
            </a:extLst>
          </p:cNvPr>
          <p:cNvSpPr txBox="1"/>
          <p:nvPr/>
        </p:nvSpPr>
        <p:spPr>
          <a:xfrm>
            <a:off x="6096000" y="2036834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If you want to join, let me know! (Challenge itself is over, but I plan</a:t>
            </a:r>
          </a:p>
          <a:p>
            <a:pPr algn="ctr"/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to expand and build on it!)</a:t>
            </a:r>
          </a:p>
        </p:txBody>
      </p:sp>
    </p:spTree>
    <p:extLst>
      <p:ext uri="{BB962C8B-B14F-4D97-AF65-F5344CB8AC3E}">
        <p14:creationId xmlns:p14="http://schemas.microsoft.com/office/powerpoint/2010/main" val="65743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8D95-2494-56AA-3C7A-A0A2D9D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4410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Back to Basics: What Are EEGs?</a:t>
            </a:r>
            <a:endParaRPr lang="en-T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7B2BF-08F5-FBEA-FFDD-55EBD94D9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000" t="44012" r="9013" b="15870"/>
          <a:stretch>
            <a:fillRect/>
          </a:stretch>
        </p:blipFill>
        <p:spPr>
          <a:xfrm>
            <a:off x="457200" y="3967624"/>
            <a:ext cx="4322620" cy="27369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710FB-7969-DF2C-8F85-33CF1BC9D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68" t="45563" r="7735" b="16506"/>
          <a:stretch>
            <a:fillRect/>
          </a:stretch>
        </p:blipFill>
        <p:spPr>
          <a:xfrm>
            <a:off x="616528" y="1113201"/>
            <a:ext cx="5804185" cy="2315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6E08D8-1950-7460-928E-992FA289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41" t="41335" r="16113" b="13552"/>
          <a:stretch>
            <a:fillRect/>
          </a:stretch>
        </p:blipFill>
        <p:spPr>
          <a:xfrm>
            <a:off x="6816436" y="3600933"/>
            <a:ext cx="4710545" cy="296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9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E6CE2-FE8A-E157-F227-16161C67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BDC5-2E77-51E8-F06D-4726C936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9325"/>
            <a:ext cx="10515600" cy="1325563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Why EEG Is Messy: Forward Model</a:t>
            </a:r>
            <a:endParaRPr lang="en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0B329-CF2B-7DF5-9AA1-ACCD08740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57000"/>
                    </a14:imgEffect>
                  </a14:imgLayer>
                </a14:imgProps>
              </a:ext>
            </a:extLst>
          </a:blip>
          <a:srcRect t="15096" b="79408"/>
          <a:stretch>
            <a:fillRect/>
          </a:stretch>
        </p:blipFill>
        <p:spPr>
          <a:xfrm>
            <a:off x="884329" y="2183918"/>
            <a:ext cx="3560203" cy="4240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F3668-7F9C-6F6A-CADD-6B045E4FD7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257" b="63033"/>
          <a:stretch>
            <a:fillRect/>
          </a:stretch>
        </p:blipFill>
        <p:spPr>
          <a:xfrm>
            <a:off x="873030" y="3797878"/>
            <a:ext cx="3498273" cy="432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6E5D7E-30C7-B74A-7190-02A8A43CC0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970" b="37576"/>
          <a:stretch>
            <a:fillRect/>
          </a:stretch>
        </p:blipFill>
        <p:spPr>
          <a:xfrm>
            <a:off x="872974" y="5474268"/>
            <a:ext cx="3797587" cy="4488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3002C-1AB8-8E6C-7357-BFB7E1AE3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495" b="23636"/>
          <a:stretch>
            <a:fillRect/>
          </a:stretch>
        </p:blipFill>
        <p:spPr>
          <a:xfrm>
            <a:off x="845264" y="5860306"/>
            <a:ext cx="4027110" cy="5993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AE0DE5-7031-AD2C-B7B7-918651DCD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65000"/>
                    </a14:imgEffect>
                  </a14:imgLayer>
                </a14:imgProps>
              </a:ext>
            </a:extLst>
          </a:blip>
          <a:srcRect t="82626" b="13725"/>
          <a:stretch>
            <a:fillRect/>
          </a:stretch>
        </p:blipFill>
        <p:spPr>
          <a:xfrm>
            <a:off x="756856" y="6276557"/>
            <a:ext cx="5676758" cy="4488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F8B21B-939B-96A4-7988-A9564A72717B}"/>
              </a:ext>
            </a:extLst>
          </p:cNvPr>
          <p:cNvSpPr txBox="1"/>
          <p:nvPr/>
        </p:nvSpPr>
        <p:spPr>
          <a:xfrm>
            <a:off x="542956" y="1781845"/>
            <a:ext cx="409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b="1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Current dipole superposition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A78C3C-6CFB-B8CE-7FF9-CEF4F85A1E5C}"/>
                  </a:ext>
                </a:extLst>
              </p:cNvPr>
              <p:cNvSpPr txBox="1"/>
              <p:nvPr/>
            </p:nvSpPr>
            <p:spPr>
              <a:xfrm>
                <a:off x="542956" y="4519578"/>
                <a:ext cx="5979236" cy="945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EEG at channel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,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is the voltage difference from a </a:t>
                </a:r>
                <a:r>
                  <a:rPr lang="en-TW" b="1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reference</a:t>
                </a:r>
                <a:r>
                  <a:rPr lang="en-TW" b="1" dirty="0">
                    <a:solidFill>
                      <a:schemeClr val="accent1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</a:t>
                </a: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channel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, then we obtain the matrix form: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A78C3C-6CFB-B8CE-7FF9-CEF4F85A1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56" y="4519578"/>
                <a:ext cx="5979236" cy="945580"/>
              </a:xfrm>
              <a:prstGeom prst="rect">
                <a:avLst/>
              </a:prstGeom>
              <a:blipFill>
                <a:blip r:embed="rId8"/>
                <a:stretch>
                  <a:fillRect l="-847" t="-2632" b="-9211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DDC83EA-21CD-E586-49B4-F7E6671229C2}"/>
              </a:ext>
            </a:extLst>
          </p:cNvPr>
          <p:cNvSpPr txBox="1"/>
          <p:nvPr/>
        </p:nvSpPr>
        <p:spPr>
          <a:xfrm>
            <a:off x="556811" y="2847836"/>
            <a:ext cx="6121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Imposing </a:t>
            </a:r>
            <a:r>
              <a:rPr lang="en-TW" b="1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boundary conditions 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(e.g., non-infinite space, inhomogeneous conductivity) and solve for the general solution using modified Green’s functions: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BD5EEA-67CD-9147-9524-D58DB20C10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5701" y="1817264"/>
            <a:ext cx="4523343" cy="41129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89F040-2139-AA42-5C9B-95BD5329EB71}"/>
              </a:ext>
            </a:extLst>
          </p:cNvPr>
          <p:cNvSpPr txBox="1"/>
          <p:nvPr/>
        </p:nvSpPr>
        <p:spPr>
          <a:xfrm>
            <a:off x="7172091" y="6021980"/>
            <a:ext cx="47982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2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Photo from Steven J. Luck,</a:t>
            </a:r>
          </a:p>
          <a:p>
            <a:r>
              <a:rPr lang="en-TW" sz="12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An Introduction to the Event-Related Potential Technique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10"/>
            </a:endParaRPr>
          </a:p>
          <a:p>
            <a:br>
              <a:rPr lang="en-US" dirty="0"/>
            </a:br>
            <a:br>
              <a:rPr lang="en-US" dirty="0">
                <a:hlinkClick r:id="rId10"/>
              </a:rPr>
            </a:br>
            <a:endParaRPr lang="en-US" dirty="0">
              <a:hlinkClick r:id="rId10"/>
            </a:endParaRPr>
          </a:p>
          <a:p>
            <a:br>
              <a:rPr lang="en-US" dirty="0"/>
            </a:br>
            <a:endParaRPr lang="en-TW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14B2F63-5D12-03B7-958A-19319991FC2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784"/>
          <a:stretch>
            <a:fillRect/>
          </a:stretch>
        </p:blipFill>
        <p:spPr>
          <a:xfrm>
            <a:off x="7125701" y="1149018"/>
            <a:ext cx="4245685" cy="5644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4693CB-3E06-E296-9175-BFD547F87FEB}"/>
              </a:ext>
            </a:extLst>
          </p:cNvPr>
          <p:cNvSpPr txBox="1"/>
          <p:nvPr/>
        </p:nvSpPr>
        <p:spPr>
          <a:xfrm>
            <a:off x="529935" y="1080276"/>
            <a:ext cx="599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400" strike="sngStrike" dirty="0">
                <a:latin typeface="Euphemia UCAS" panose="020B0503040102020104" pitchFamily="34" charset="-79"/>
                <a:cs typeface="Euphemia UCAS" panose="020B0503040102020104" pitchFamily="34" charset="-79"/>
              </a:rPr>
              <a:t>(The Part That Nobody Wants to Look at)</a:t>
            </a:r>
            <a:endParaRPr lang="en-TW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31357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0FE-7CDA-82C9-25D1-A7E329DB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36" y="27709"/>
            <a:ext cx="10515600" cy="1325563"/>
          </a:xfrm>
        </p:spPr>
        <p:txBody>
          <a:bodyPr>
            <a:normAutofit/>
          </a:bodyPr>
          <a:lstStyle/>
          <a:p>
            <a:r>
              <a:rPr lang="en-TW" sz="40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Challenges in Encoding EEGs</a:t>
            </a:r>
            <a:endParaRPr lang="en-TW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B3745-13E7-1E6C-0564-2F1B991EBA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475" y="1820511"/>
                <a:ext cx="1040476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Bottleneck</a:t>
                </a:r>
              </a:p>
              <a:p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EEG data are noisy and heterogeneous — channel montages, reference schemes, electrodes, individual skull conductivities — all create </a:t>
                </a:r>
                <a:r>
                  <a:rPr lang="en-US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cross-experiment</a:t>
                </a: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and </a:t>
                </a:r>
                <a:r>
                  <a:rPr lang="en-US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cross-subject</a:t>
                </a:r>
                <a:r>
                  <a:rPr lang="en-US" i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</a:t>
                </a: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differences.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Model hard to </a:t>
                </a:r>
                <a:r>
                  <a:rPr lang="en-US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generalize</a:t>
                </a: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(i.e., we want it to work on different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datasets, across different tasks, labs, subjects, etc.)</a:t>
                </a:r>
              </a:p>
              <a:p>
                <a:endParaRPr lang="en-US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Open Question</a:t>
                </a:r>
              </a:p>
              <a:p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How do we handle, clean, and pre-process the data?</a:t>
                </a:r>
              </a:p>
              <a:p>
                <a:endParaRPr lang="en-TW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B3745-13E7-1E6C-0564-2F1B991EBA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475" y="1820511"/>
                <a:ext cx="10404761" cy="4351338"/>
              </a:xfrm>
              <a:blipFill>
                <a:blip r:embed="rId3"/>
                <a:stretch>
                  <a:fillRect l="-1098" t="-320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95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641E-0F4D-C5B0-1766-C676003C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3" y="-9455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Datasets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9DC49-C8CF-400A-0F4C-FBA7563F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3" y="1205271"/>
            <a:ext cx="10515600" cy="5541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HBN-EEG (Healthy Brain Network EEG Datasets)</a:t>
            </a:r>
            <a:endParaRPr lang="en-TW" sz="3200" b="1" dirty="0">
              <a:solidFill>
                <a:schemeClr val="tx1">
                  <a:lumMod val="50000"/>
                  <a:lumOff val="50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buNone/>
            </a:pPr>
            <a:endParaRPr lang="en-TW" sz="3200" b="1" dirty="0">
              <a:solidFill>
                <a:schemeClr val="tx1">
                  <a:lumMod val="50000"/>
                  <a:lumOff val="50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Passive tasks</a:t>
            </a:r>
          </a:p>
          <a:p>
            <a:pPr marL="0" indent="0">
              <a:buNone/>
            </a:pPr>
            <a:r>
              <a:rPr lang="en-TW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     </a:t>
            </a:r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- Resting state</a:t>
            </a:r>
          </a:p>
          <a:p>
            <a:pPr marL="0" indent="0">
              <a:buNone/>
            </a:pPr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      - Surround Suppression</a:t>
            </a:r>
          </a:p>
          <a:p>
            <a:pPr marL="0" indent="0">
              <a:buNone/>
            </a:pPr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      - Movie Watching</a:t>
            </a:r>
          </a:p>
          <a:p>
            <a:pPr marL="0" indent="0">
              <a:buNone/>
            </a:pPr>
            <a:endParaRPr lang="en-TW" sz="2400" dirty="0">
              <a:solidFill>
                <a:schemeClr val="bg2">
                  <a:lumMod val="75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Active tasks</a:t>
            </a:r>
          </a:p>
          <a:p>
            <a:pPr marL="0" indent="0">
              <a:buNone/>
            </a:pP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     </a:t>
            </a:r>
            <a:r>
              <a:rPr lang="en-TW" sz="2400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- Contrast Change Detection</a:t>
            </a:r>
          </a:p>
          <a:p>
            <a:pPr marL="0" indent="0">
              <a:buNone/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      </a:t>
            </a:r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- Sequence Learning</a:t>
            </a:r>
          </a:p>
          <a:p>
            <a:pPr marL="0" indent="0">
              <a:buNone/>
            </a:pPr>
            <a:r>
              <a:rPr lang="en-TW" sz="24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      - Symbol Search</a:t>
            </a:r>
          </a:p>
          <a:p>
            <a:endParaRPr lang="en-TW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8D1C6A1-7C40-D727-414D-E4D27C05A593}"/>
              </a:ext>
            </a:extLst>
          </p:cNvPr>
          <p:cNvSpPr/>
          <p:nvPr/>
        </p:nvSpPr>
        <p:spPr>
          <a:xfrm>
            <a:off x="6067087" y="2421587"/>
            <a:ext cx="554182" cy="1814946"/>
          </a:xfrm>
          <a:prstGeom prst="rightBrace">
            <a:avLst/>
          </a:prstGeom>
          <a:ln w="317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46AF78D-CAC3-0509-AD48-D7D3FCBF5276}"/>
              </a:ext>
            </a:extLst>
          </p:cNvPr>
          <p:cNvSpPr/>
          <p:nvPr/>
        </p:nvSpPr>
        <p:spPr>
          <a:xfrm>
            <a:off x="6096000" y="4745256"/>
            <a:ext cx="554182" cy="1814946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285FF8-D6DE-2249-A3BC-DCBAF3C8A124}"/>
                  </a:ext>
                </a:extLst>
              </p:cNvPr>
              <p:cNvSpPr txBox="1"/>
              <p:nvPr/>
            </p:nvSpPr>
            <p:spPr>
              <a:xfrm>
                <a:off x="6968836" y="2941681"/>
                <a:ext cx="647007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TW" sz="24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No labels</a:t>
                </a:r>
              </a:p>
              <a:p>
                <a14:m>
                  <m:oMath xmlns:m="http://schemas.openxmlformats.org/officeDocument/2006/math">
                    <m:r>
                      <a:rPr lang="en-TW" sz="24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TW" sz="24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Unsupervised/self-supervised</a:t>
                </a:r>
              </a:p>
              <a:p>
                <a:endParaRPr lang="en-TW" sz="24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sz="24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sz="24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sz="24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Labels</a:t>
                </a:r>
              </a:p>
              <a:p>
                <a14:m>
                  <m:oMath xmlns:m="http://schemas.openxmlformats.org/officeDocument/2006/math">
                    <m:r>
                      <a:rPr lang="en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Supervised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285FF8-D6DE-2249-A3BC-DCBAF3C8A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36" y="2941681"/>
                <a:ext cx="6470072" cy="3046988"/>
              </a:xfrm>
              <a:prstGeom prst="rect">
                <a:avLst/>
              </a:prstGeom>
              <a:blipFill>
                <a:blip r:embed="rId3"/>
                <a:stretch>
                  <a:fillRect l="-1566" t="-1660" b="-3734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750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3443-8B1E-D7CB-061E-5B60F148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93" y="-22806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Datesets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58F4F0-EFED-73D7-5407-E9BC770E9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553" t="45285" r="3452" b="20009"/>
          <a:stretch>
            <a:fillRect/>
          </a:stretch>
        </p:blipFill>
        <p:spPr>
          <a:xfrm>
            <a:off x="505693" y="3768436"/>
            <a:ext cx="8110881" cy="29371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E1144-FBA2-9805-C08F-058B4FD1B8AD}"/>
              </a:ext>
            </a:extLst>
          </p:cNvPr>
          <p:cNvSpPr txBox="1"/>
          <p:nvPr/>
        </p:nvSpPr>
        <p:spPr>
          <a:xfrm>
            <a:off x="505693" y="1302757"/>
            <a:ext cx="111806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Participants monitored two co-centric flickering grated disks (one left-leaning, one right-leaning) and identified which disk showed increased contrast when a change occurred. They received feedback (smiley or sad face) based on response accuracy. This task measures visual attention, decision-making, and contrast sensitivity.</a:t>
            </a:r>
            <a:endParaRPr lang="en-TW" sz="2400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0494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4169-9B12-9852-C37A-C660BD3C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3" y="-155291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Pipeline: EEG → Model </a:t>
            </a:r>
            <a:r>
              <a:rPr lang="en-TW" sz="18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(EEGNeX)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→ RT </a:t>
            </a:r>
            <a:r>
              <a:rPr lang="en-TW" sz="18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(Response Time)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ACA09-7260-BBF5-65D7-E99144E3764F}"/>
              </a:ext>
            </a:extLst>
          </p:cNvPr>
          <p:cNvSpPr txBox="1"/>
          <p:nvPr/>
        </p:nvSpPr>
        <p:spPr>
          <a:xfrm>
            <a:off x="637314" y="1421671"/>
            <a:ext cx="47036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Download CCD dataset mini</a:t>
            </a: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(already pre-processed)</a:t>
            </a: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Windowing/epoching</a:t>
            </a: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(+500 ms - +2500 ms)</a:t>
            </a: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Train/validation/test data split</a:t>
            </a: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(split by subject)</a:t>
            </a: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Create DataLoader objects</a:t>
            </a: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sz="2000" b="1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ML training pipeline</a:t>
            </a:r>
          </a:p>
          <a:p>
            <a:endParaRPr lang="en-TW" sz="2000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sz="2000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endParaRPr lang="en-TW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F5C08-9FF7-896E-2FFC-8A62F4DFF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7490" y="5264727"/>
            <a:ext cx="256309" cy="912236"/>
          </a:xfrm>
        </p:spPr>
        <p:txBody>
          <a:bodyPr/>
          <a:lstStyle/>
          <a:p>
            <a:endParaRPr lang="en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AEA90-FBC3-D790-A81B-DD4BFDEB0635}"/>
              </a:ext>
            </a:extLst>
          </p:cNvPr>
          <p:cNvSpPr txBox="1"/>
          <p:nvPr/>
        </p:nvSpPr>
        <p:spPr>
          <a:xfrm>
            <a:off x="5992086" y="1421671"/>
            <a:ext cx="5818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Data inspection in MATLAB EEG/ERPLAB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31A56F7-280B-E573-1F28-6E6D010B6E0D}"/>
              </a:ext>
            </a:extLst>
          </p:cNvPr>
          <p:cNvSpPr/>
          <p:nvPr/>
        </p:nvSpPr>
        <p:spPr>
          <a:xfrm>
            <a:off x="1898074" y="2189017"/>
            <a:ext cx="235528" cy="457200"/>
          </a:xfrm>
          <a:prstGeom prst="downArrow">
            <a:avLst>
              <a:gd name="adj1" fmla="val 50000"/>
              <a:gd name="adj2" fmla="val 10185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D617347A-F41C-0921-D88F-C0A60CD34E4E}"/>
              </a:ext>
            </a:extLst>
          </p:cNvPr>
          <p:cNvSpPr/>
          <p:nvPr/>
        </p:nvSpPr>
        <p:spPr>
          <a:xfrm>
            <a:off x="1856512" y="3413563"/>
            <a:ext cx="235528" cy="457200"/>
          </a:xfrm>
          <a:prstGeom prst="downArrow">
            <a:avLst>
              <a:gd name="adj1" fmla="val 50000"/>
              <a:gd name="adj2" fmla="val 10185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63FF2089-3F84-E050-A3F1-99D04B618C9D}"/>
              </a:ext>
            </a:extLst>
          </p:cNvPr>
          <p:cNvSpPr/>
          <p:nvPr/>
        </p:nvSpPr>
        <p:spPr>
          <a:xfrm>
            <a:off x="1828805" y="4610399"/>
            <a:ext cx="235528" cy="457200"/>
          </a:xfrm>
          <a:prstGeom prst="downArrow">
            <a:avLst>
              <a:gd name="adj1" fmla="val 50000"/>
              <a:gd name="adj2" fmla="val 10185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A93AD38-CF4D-6799-65FB-B963A1800849}"/>
              </a:ext>
            </a:extLst>
          </p:cNvPr>
          <p:cNvSpPr/>
          <p:nvPr/>
        </p:nvSpPr>
        <p:spPr>
          <a:xfrm>
            <a:off x="1828805" y="5527345"/>
            <a:ext cx="235528" cy="457200"/>
          </a:xfrm>
          <a:prstGeom prst="downArrow">
            <a:avLst>
              <a:gd name="adj1" fmla="val 50000"/>
              <a:gd name="adj2" fmla="val 10185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4CBA88EB-A939-7BE7-9463-C89328FA1E74}"/>
              </a:ext>
            </a:extLst>
          </p:cNvPr>
          <p:cNvSpPr/>
          <p:nvPr/>
        </p:nvSpPr>
        <p:spPr>
          <a:xfrm rot="16200000">
            <a:off x="5091542" y="1393126"/>
            <a:ext cx="235528" cy="457200"/>
          </a:xfrm>
          <a:prstGeom prst="downArrow">
            <a:avLst>
              <a:gd name="adj1" fmla="val 50000"/>
              <a:gd name="adj2" fmla="val 101852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26234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F161-F277-2106-1E14-C6848D35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64" y="18255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F815-48DB-43FE-A055-FC44EF9B3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4" y="1506970"/>
            <a:ext cx="10515600" cy="4351338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EEGDash: access to data (BIDS), PyTorch compatible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Braindecode: EEGNeX, wrapper pipeline for functions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MNE: EEG data anlysis package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PyTorch: deep learning framework</a:t>
            </a:r>
          </a:p>
          <a:p>
            <a:pPr marL="0" indent="0">
              <a:buNone/>
            </a:pP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74881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0031-552B-0F81-AE62-0CCA1EF9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AC8BD403-A5AA-B669-D450-D1376CB53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73000" contrast="-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99765" y="-36862"/>
            <a:ext cx="12713437" cy="699184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42CE37-7DC3-FBC9-66E4-9DF6FD18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353799" y="1690688"/>
            <a:ext cx="450273" cy="2022330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3E08-836F-BC49-F402-09A04038C15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9" y="4544291"/>
            <a:ext cx="242455" cy="1632672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86F8B-F2EE-62D4-16A1-7F0C5952CBB5}"/>
              </a:ext>
            </a:extLst>
          </p:cNvPr>
          <p:cNvSpPr txBox="1"/>
          <p:nvPr/>
        </p:nvSpPr>
        <p:spPr>
          <a:xfrm>
            <a:off x="529936" y="666169"/>
            <a:ext cx="11132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How This Actually Runs on</a:t>
            </a:r>
          </a:p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a Computer: Enough Slides, </a:t>
            </a:r>
            <a:r>
              <a:rPr lang="en-TW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Summon t</a:t>
            </a:r>
            <a:r>
              <a:rPr lang="en-US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TW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 Code</a:t>
            </a:r>
            <a:endParaRPr lang="en-TW" sz="4800" b="1" dirty="0">
              <a:solidFill>
                <a:schemeClr val="bg2">
                  <a:lumMod val="90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4A55-C766-06A8-176C-9684073DBA91}"/>
              </a:ext>
            </a:extLst>
          </p:cNvPr>
          <p:cNvSpPr txBox="1"/>
          <p:nvPr/>
        </p:nvSpPr>
        <p:spPr>
          <a:xfrm>
            <a:off x="387927" y="4544291"/>
            <a:ext cx="89638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Based on </a:t>
            </a:r>
            <a:r>
              <a:rPr lang="en-TW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NeurIPS Starter-Kit </a:t>
            </a:r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(model choice, windowing, data split, training loop).</a:t>
            </a:r>
          </a:p>
          <a:p>
            <a:endParaRPr lang="en-TW" dirty="0">
              <a:solidFill>
                <a:schemeClr val="bg1"/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Amanda added</a:t>
            </a:r>
          </a:p>
          <a:p>
            <a:pPr marL="285750" indent="-285750">
              <a:buFontTx/>
              <a:buChar char="-"/>
            </a:pPr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Export utilities for MATLAB EEG/ERPLAB.</a:t>
            </a:r>
          </a:p>
          <a:p>
            <a:pPr marL="285750" indent="-285750">
              <a:buFontTx/>
              <a:buChar char="-"/>
            </a:pPr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Re-annotation (positive/negative feedback) as a classification example.</a:t>
            </a:r>
          </a:p>
          <a:p>
            <a:pPr marL="285750" indent="-285750">
              <a:buFontTx/>
              <a:buChar char="-"/>
            </a:pPr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Extra explanation cells to clarify the key functions used in the code.</a:t>
            </a:r>
          </a:p>
          <a:p>
            <a:pPr marL="285750" indent="-285750">
              <a:buFontTx/>
              <a:buChar char="-"/>
            </a:pPr>
            <a:r>
              <a:rPr lang="en-TW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Additionsl evaluation (R^2, train/validation loss plots).</a:t>
            </a:r>
          </a:p>
        </p:txBody>
      </p:sp>
    </p:spTree>
    <p:extLst>
      <p:ext uri="{BB962C8B-B14F-4D97-AF65-F5344CB8AC3E}">
        <p14:creationId xmlns:p14="http://schemas.microsoft.com/office/powerpoint/2010/main" val="744352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BA251-BF86-BD13-D9C2-7EE291E3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55FD0DEF-1D51-3BFF-D8F3-EF65F008D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73000" contrast="-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99765" y="-36862"/>
            <a:ext cx="12713437" cy="699184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AEE1E5-2B30-1C8D-EA65-6982E721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353799" y="1690688"/>
            <a:ext cx="450273" cy="2022330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ECF5-F21B-3598-F404-0E043CE5738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9" y="4544291"/>
            <a:ext cx="242455" cy="1632672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66EAA-D5CB-16FC-F7E0-8608890DC321}"/>
              </a:ext>
            </a:extLst>
          </p:cNvPr>
          <p:cNvSpPr txBox="1"/>
          <p:nvPr/>
        </p:nvSpPr>
        <p:spPr>
          <a:xfrm>
            <a:off x="446808" y="2928188"/>
            <a:ext cx="111321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Machine Learning Pipeline:</a:t>
            </a:r>
          </a:p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10-Minute(-ish) Crash Course</a:t>
            </a:r>
          </a:p>
        </p:txBody>
      </p:sp>
    </p:spTree>
    <p:extLst>
      <p:ext uri="{BB962C8B-B14F-4D97-AF65-F5344CB8AC3E}">
        <p14:creationId xmlns:p14="http://schemas.microsoft.com/office/powerpoint/2010/main" val="310748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7E9F-377D-40FE-C995-873534D0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1" y="298483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Models: What Are Neural Networks?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F429-2131-74D0-9C26-A2B78288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82" y="1780956"/>
            <a:ext cx="10515600" cy="49134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TW" sz="40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DNN, CNN, RNN, Transformer, etc. — </a:t>
            </a:r>
            <a:r>
              <a:rPr lang="en-TW" sz="40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what are they?</a:t>
            </a:r>
          </a:p>
          <a:p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Fully connected/dense DNN (deep neural network)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Each layer is fully connected to the next; treats input features as unordered vectors.</a:t>
            </a:r>
          </a:p>
          <a:p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CNN (convolutional neural network)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Learns local patterns via shared weights with sliding kernels.</a:t>
            </a:r>
          </a:p>
          <a:p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RNN (recurrent neural network)</a:t>
            </a:r>
          </a:p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Sequential modelling: current hidden state depends on the previous hidden state.</a:t>
            </a:r>
          </a:p>
          <a:p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Transformer</a:t>
            </a:r>
          </a:p>
          <a:p>
            <a:r>
              <a:rPr lang="en-TW" dirty="0">
                <a:solidFill>
                  <a:schemeClr val="tx1">
                    <a:lumMod val="50000"/>
                    <a:lumOff val="5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is All You Need</a:t>
            </a:r>
            <a:endParaRPr lang="en-TW" dirty="0">
              <a:solidFill>
                <a:schemeClr val="tx1">
                  <a:lumMod val="50000"/>
                  <a:lumOff val="50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5D949-056F-A0EA-BFCF-3052D4B23946}"/>
              </a:ext>
            </a:extLst>
          </p:cNvPr>
          <p:cNvSpPr txBox="1"/>
          <p:nvPr/>
        </p:nvSpPr>
        <p:spPr>
          <a:xfrm>
            <a:off x="6802576" y="6089647"/>
            <a:ext cx="5874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3200" b="1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So… </a:t>
            </a:r>
            <a:r>
              <a:rPr lang="en-TW" sz="3600" b="1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what</a:t>
            </a:r>
            <a:r>
              <a:rPr lang="en-TW" sz="3200" b="1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 is a neuron?</a:t>
            </a:r>
          </a:p>
        </p:txBody>
      </p:sp>
    </p:spTree>
    <p:extLst>
      <p:ext uri="{BB962C8B-B14F-4D97-AF65-F5344CB8AC3E}">
        <p14:creationId xmlns:p14="http://schemas.microsoft.com/office/powerpoint/2010/main" val="39494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89C8-0F60-7F47-D1DE-C98DB1BD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1" y="277090"/>
            <a:ext cx="11720946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Models: Basic DNN (Fully Connected, Dense)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B8E87-8A1F-B94A-E7E5-6FEF7833D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1584324"/>
                <a:ext cx="11506201" cy="53800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TW" sz="2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A </a:t>
                </a:r>
                <a:r>
                  <a:rPr lang="en-TW" sz="2300" b="1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neuron</a:t>
                </a:r>
                <a:r>
                  <a:rPr lang="en-TW" sz="2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is just a small function that computes</a:t>
                </a: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Input vector: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Parameters/weights: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ℝ</m:t>
                    </m:r>
                  </m:oMath>
                </a14:m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i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Nonlinear </a:t>
                </a:r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activation </a:t>
                </a:r>
                <a14:m>
                  <m:oMath xmlns:m="http://schemas.openxmlformats.org/officeDocument/2006/math">
                    <m:r>
                      <a:rPr lang="en-TW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 marL="0" indent="0">
                  <a:buNone/>
                </a:pPr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Pre-activation: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Activation: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TW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sz="20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 marL="0" indent="0">
                  <a:buNone/>
                </a:pPr>
                <a:r>
                  <a:rPr lang="en-TW" sz="2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A </a:t>
                </a:r>
                <a:r>
                  <a:rPr lang="en-TW" sz="2300" b="1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layer</a:t>
                </a:r>
                <a:r>
                  <a:rPr lang="en-TW" sz="2300" b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</a:t>
                </a:r>
                <a:r>
                  <a:rPr lang="en-TW" sz="2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is a collection of neurons sharing the same input vector, so in matrix form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TW" sz="180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h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𝜙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TW" sz="180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h</m:t>
                        </m:r>
                      </m:e>
                      <m:sup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𝑙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+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b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)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for layer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𝑙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 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; 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𝜙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is applied element-wise</a:t>
                </a:r>
              </a:p>
              <a:p>
                <a:endParaRPr lang="en-TW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CB8E87-8A1F-B94A-E7E5-6FEF7833D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1584324"/>
                <a:ext cx="11506201" cy="5380037"/>
              </a:xfrm>
              <a:blipFill>
                <a:blip r:embed="rId2"/>
                <a:stretch>
                  <a:fillRect l="-661" t="-1412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05FB7CB-C0F8-6E3A-0001-EE889E71E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55" t="29210" r="17539" b="26150"/>
          <a:stretch>
            <a:fillRect/>
          </a:stretch>
        </p:blipFill>
        <p:spPr>
          <a:xfrm>
            <a:off x="6428508" y="2618586"/>
            <a:ext cx="5195456" cy="265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85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448B-A725-25FB-FB82-CDE3CC2E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" y="231482"/>
            <a:ext cx="12510655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Models: CNN (Convolutional Neural Network)</a:t>
            </a:r>
            <a:endParaRPr lang="en-TW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4AC69-23D7-CE2D-54FD-9E07E4C1F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0944" y="1506963"/>
                <a:ext cx="11021291" cy="5125749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4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Motivation</a:t>
                </a:r>
              </a:p>
              <a:p>
                <a:pPr>
                  <a:spcAft>
                    <a:spcPts val="600"/>
                  </a:spcAft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For instance, input RGB image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TW" sz="33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To feed into a fully connected dense network, input must be flattened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33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33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TW" sz="3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too many parameters</a:t>
                </a:r>
              </a:p>
              <a:p>
                <a:pPr>
                  <a:spcAft>
                    <a:spcPts val="600"/>
                  </a:spcAft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This also distorts positional structure</a:t>
                </a:r>
              </a:p>
              <a:p>
                <a:pPr marL="0" indent="0">
                  <a:buNone/>
                </a:pPr>
                <a:endParaRPr lang="en-TW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4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CNN idea</a:t>
                </a:r>
              </a:p>
              <a:p>
                <a:pPr>
                  <a:spcAft>
                    <a:spcPts val="600"/>
                  </a:spcAft>
                </a:pPr>
                <a:r>
                  <a:rPr lang="en-TW" sz="3300" b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Local “connectivity”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Neurons only “see” a small neighorhood (“receptive field”).</a:t>
                </a:r>
              </a:p>
              <a:p>
                <a:pPr>
                  <a:spcAft>
                    <a:spcPts val="600"/>
                  </a:spcAft>
                </a:pPr>
                <a:r>
                  <a:rPr lang="en-TW" sz="3300" b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Weight sharing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S</a:t>
                </a:r>
                <a:r>
                  <a:rPr lang="en-US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am</a:t>
                </a: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e kernel slides across the whole image.</a:t>
                </a:r>
              </a:p>
              <a:p>
                <a:pPr>
                  <a:spcAft>
                    <a:spcPts val="600"/>
                  </a:spcAft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This enables CNNs to learn positional structure, and each layer detects different features, e.g.,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TW" sz="33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edges in early layers, textures in mid layers, objects in more abstract patterns in later layers.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4AC69-23D7-CE2D-54FD-9E07E4C1F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0944" y="1506963"/>
                <a:ext cx="11021291" cy="5125749"/>
              </a:xfrm>
              <a:blipFill>
                <a:blip r:embed="rId2"/>
                <a:stretch>
                  <a:fillRect l="-922" t="-3210" b="-24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428E9AF-6DE8-2A91-37F5-0E3BBA5E2F50}"/>
              </a:ext>
            </a:extLst>
          </p:cNvPr>
          <p:cNvSpPr txBox="1"/>
          <p:nvPr/>
        </p:nvSpPr>
        <p:spPr>
          <a:xfrm>
            <a:off x="3958939" y="240431"/>
            <a:ext cx="4045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Trivia: CNNs actually do </a:t>
            </a:r>
            <a:r>
              <a:rPr lang="en-TW" sz="14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cross-correlation</a:t>
            </a:r>
          </a:p>
        </p:txBody>
      </p:sp>
    </p:spTree>
    <p:extLst>
      <p:ext uri="{BB962C8B-B14F-4D97-AF65-F5344CB8AC3E}">
        <p14:creationId xmlns:p14="http://schemas.microsoft.com/office/powerpoint/2010/main" val="615839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715D68-9614-BBB4-D6C4-4CE45F278C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268144"/>
                <a:ext cx="10515600" cy="1325563"/>
              </a:xfrm>
            </p:spPr>
            <p:txBody>
              <a:bodyPr/>
              <a:lstStyle/>
              <a:p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EEG: Spatial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Temporal Structure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715D68-9614-BBB4-D6C4-4CE45F278C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268144"/>
                <a:ext cx="10515600" cy="1325563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5FEC2C1-F105-49E8-2124-08D200B00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54" t="22320" r="9384" b="22016"/>
          <a:stretch>
            <a:fillRect/>
          </a:stretch>
        </p:blipFill>
        <p:spPr>
          <a:xfrm>
            <a:off x="1044792" y="1607940"/>
            <a:ext cx="10475263" cy="51766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B5D442-B229-60AD-6687-8CAAA81B9BCE}"/>
              </a:ext>
            </a:extLst>
          </p:cNvPr>
          <p:cNvSpPr/>
          <p:nvPr/>
        </p:nvSpPr>
        <p:spPr>
          <a:xfrm>
            <a:off x="1357749" y="2495449"/>
            <a:ext cx="2147455" cy="15810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299EE7-F8DC-70EA-5D33-C55A7201F974}"/>
              </a:ext>
            </a:extLst>
          </p:cNvPr>
          <p:cNvSpPr/>
          <p:nvPr/>
        </p:nvSpPr>
        <p:spPr>
          <a:xfrm>
            <a:off x="1357748" y="3009700"/>
            <a:ext cx="2147455" cy="15810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0B87D6-8DB2-23A3-F97D-6304B3F667D8}"/>
              </a:ext>
            </a:extLst>
          </p:cNvPr>
          <p:cNvSpPr/>
          <p:nvPr/>
        </p:nvSpPr>
        <p:spPr>
          <a:xfrm>
            <a:off x="1357748" y="4697492"/>
            <a:ext cx="2147455" cy="15810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3458E-D742-9B8D-0314-DAB98BBB7496}"/>
              </a:ext>
            </a:extLst>
          </p:cNvPr>
          <p:cNvSpPr/>
          <p:nvPr/>
        </p:nvSpPr>
        <p:spPr>
          <a:xfrm>
            <a:off x="1357747" y="5184862"/>
            <a:ext cx="2147455" cy="15810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6A1B30-1D4C-EBA9-7AF6-56A272517593}"/>
              </a:ext>
            </a:extLst>
          </p:cNvPr>
          <p:cNvCxnSpPr>
            <a:cxnSpLocks/>
          </p:cNvCxnSpPr>
          <p:nvPr/>
        </p:nvCxnSpPr>
        <p:spPr>
          <a:xfrm>
            <a:off x="110836" y="6192980"/>
            <a:ext cx="11982269" cy="0"/>
          </a:xfrm>
          <a:prstGeom prst="line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475E3F-8F7D-50B0-49AA-CED89C0E5CD3}"/>
              </a:ext>
            </a:extLst>
          </p:cNvPr>
          <p:cNvSpPr txBox="1"/>
          <p:nvPr/>
        </p:nvSpPr>
        <p:spPr>
          <a:xfrm>
            <a:off x="69275" y="5731315"/>
            <a:ext cx="3234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solidFill>
                  <a:schemeClr val="accent5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Encoder</a:t>
            </a:r>
          </a:p>
          <a:p>
            <a:endParaRPr lang="en-TW" dirty="0">
              <a:solidFill>
                <a:schemeClr val="accent2"/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r>
              <a:rPr lang="en-TW" dirty="0">
                <a:solidFill>
                  <a:schemeClr val="accent2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3670849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A5F9-904D-E999-3205-2D43E72D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1" y="198870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Training: How Does a Model “Learn”?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72649-39B5-4C9E-34DC-CDC2EB0E0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891" y="1355336"/>
                <a:ext cx="12233564" cy="5387354"/>
              </a:xfrm>
            </p:spPr>
            <p:txBody>
              <a:bodyPr>
                <a:normAutofit/>
              </a:bodyPr>
              <a:lstStyle/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Supervised learning: labels (ground truths)</a:t>
                </a:r>
              </a:p>
              <a:p>
                <a:pPr marL="0" indent="0">
                  <a:buNone/>
                </a:pPr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- Regression </a:t>
                </a:r>
              </a:p>
              <a:p>
                <a:pPr marL="0" indent="0">
                  <a:buNone/>
                </a:pPr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- Classification</a:t>
                </a:r>
              </a:p>
              <a:p>
                <a:r>
                  <a:rPr lang="en-TW" sz="18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Unsupervised learning: no labels</a:t>
                </a:r>
              </a:p>
              <a:p>
                <a:r>
                  <a:rPr lang="en-TW" sz="18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Self-supervised learning</a:t>
                </a:r>
              </a:p>
              <a:p>
                <a:r>
                  <a:rPr lang="en-TW" sz="18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Semi-supervised learning</a:t>
                </a:r>
              </a:p>
              <a:p>
                <a:r>
                  <a:rPr lang="en-TW" sz="18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….</a:t>
                </a:r>
              </a:p>
              <a:p>
                <a:pPr marL="0" indent="0">
                  <a:buNone/>
                </a:pPr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Stacking all the layers together, the model is just a parametrized function (</a:t>
                </a:r>
                <a14:m>
                  <m:oMath xmlns:m="http://schemas.openxmlformats.org/officeDocument/2006/math">
                    <m:r>
                      <a:rPr lang="en-TW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𝜃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= collection of all weights)</a:t>
                </a:r>
              </a:p>
              <a:p>
                <a:pPr marL="0" indent="0">
                  <a:buNone/>
                </a:pPr>
                <a:r>
                  <a:rPr lang="en-TW" sz="1800" dirty="0">
                    <a:cs typeface="Euphemia UCAS" panose="020B0503040102020104" pitchFamily="34" charset="-79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𝑓</m:t>
                        </m:r>
                      </m:e>
                      <m:sub>
                        <m:r>
                          <a:rPr lang="en-TW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𝜃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: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X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⟼</m:t>
                    </m:r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𝑦</m:t>
                        </m:r>
                      </m:e>
                    </m:acc>
                  </m:oMath>
                </a14:m>
                <a:endParaRPr lang="en-US" sz="1800" b="0" dirty="0">
                  <a:latin typeface="Euphemia UCAS" panose="020B0503040102020104" pitchFamily="34" charset="-79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Here,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X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is the EEG signals of shape (channels, time),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response time (hence regression)</a:t>
                </a:r>
              </a:p>
              <a:p>
                <a:pPr marL="0" indent="0">
                  <a:buNone/>
                </a:pPr>
                <a:endParaRPr lang="en-TW" sz="1800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We find the “best” set of parameters by minimizing a </a:t>
                </a:r>
                <a:r>
                  <a:rPr lang="en-TW" sz="1800" i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loss function</a:t>
                </a:r>
              </a:p>
              <a:p>
                <a:pPr marL="0" indent="0">
                  <a:buNone/>
                </a:pPr>
                <a:r>
                  <a:rPr lang="en-TW" sz="1800" dirty="0">
                    <a:ea typeface="Cambria Math" panose="02040503050406030204" pitchFamily="18" charset="0"/>
                    <a:cs typeface="Euphemia UCAS" panose="020B0503040102020104" pitchFamily="34" charset="-79"/>
                  </a:rPr>
                  <a:t>        </a:t>
                </a:r>
                <a14:m>
                  <m:oMath xmlns:m="http://schemas.openxmlformats.org/officeDocument/2006/math">
                    <m:r>
                      <a:rPr lang="en-TW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ℒ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dPr>
                      <m:e>
                        <m: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𝑀𝑆𝐸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(</m:t>
                    </m:r>
                    <m:sSub>
                      <m:sSubPr>
                        <m:ctrlPr>
                          <a:rPr lang="en-TW" sz="180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𝑓</m:t>
                        </m:r>
                      </m:e>
                      <m:sub>
                        <m:r>
                          <a:rPr lang="en-TW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X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,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)</m:t>
                    </m:r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in this tutorial, where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𝑀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𝑆𝐸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𝑦</m:t>
                            </m:r>
                          </m:e>
                        </m:acc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Euphemia UCAS" panose="020B0503040102020104" pitchFamily="34" charset="-79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𝑖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=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Euphemia UCAS" panose="020B0503040102020104" pitchFamily="34" charset="-79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</m:ctrlPr>
                          </m:s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TW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)</m:t>
                            </m:r>
                          </m:e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cs typeface="Euphemia UCAS" panose="020B0503040102020104" pitchFamily="34" charset="-79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TW" sz="18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is the mean squared error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72649-39B5-4C9E-34DC-CDC2EB0E0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891" y="1355336"/>
                <a:ext cx="12233564" cy="5387354"/>
              </a:xfrm>
              <a:blipFill>
                <a:blip r:embed="rId2"/>
                <a:stretch>
                  <a:fillRect l="-311" t="-941" b="-9412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80F1790-3F44-B576-A3C9-889BCAD71E80}"/>
              </a:ext>
            </a:extLst>
          </p:cNvPr>
          <p:cNvSpPr/>
          <p:nvPr/>
        </p:nvSpPr>
        <p:spPr>
          <a:xfrm>
            <a:off x="651164" y="1683365"/>
            <a:ext cx="2618509" cy="394813"/>
          </a:xfrm>
          <a:prstGeom prst="rect">
            <a:avLst/>
          </a:prstGeom>
          <a:noFill/>
          <a:ln w="476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79860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2BE9-797D-D315-0936-94F4923D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4" y="157306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Training: Gradient Descent</a:t>
            </a:r>
            <a:endParaRPr lang="en-TW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BCE64C-3ADA-0FEC-D17A-2CFC60EEE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2454" y="1603953"/>
                <a:ext cx="11353800" cy="509674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Weight update via loss gradient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en-TW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TW" dirty="0">
                    <a:ea typeface="Cambria Math" panose="02040503050406030204" pitchFamily="18" charset="0"/>
                    <a:cs typeface="Euphemia UCAS" panose="020B0503040102020104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Euphemia UCAS" panose="020B0503040102020104" pitchFamily="34" charset="-79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uphemia UCAS" panose="020B0503040102020104" pitchFamily="34" charset="-79"/>
                          </a:rPr>
                          <m:t>𝑋</m:t>
                        </m:r>
                      </m:e>
                    </m:d>
                  </m:oMath>
                </a14:m>
                <a:endParaRPr lang="en-TW" dirty="0"/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en-TW" dirty="0"/>
                  <a:t>    </a:t>
                </a: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Conceptually: takes a small step each time in the direction that </a:t>
                </a:r>
                <a:r>
                  <a:rPr lang="en-TW" i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reduces</a:t>
                </a: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loss the fastest</a:t>
                </a:r>
              </a:p>
              <a:p>
                <a:endParaRPr lang="en-TW" dirty="0"/>
              </a:p>
              <a:p>
                <a:pPr>
                  <a:spcAft>
                    <a:spcPts val="800"/>
                  </a:spcAft>
                </a:pP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Training loop, such as in mini-batch gradient descent</a:t>
                </a:r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f</a:t>
                </a:r>
                <a:r>
                  <a:rPr lang="en-TW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 epoch in range(numer_of_epochs):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f</a:t>
                </a:r>
                <a:r>
                  <a:rPr lang="en-TW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 X_batch, y_batch in batches: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p</a:t>
                </a:r>
                <a:r>
                  <a:rPr lang="en-TW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redictions = model(X_batch)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loss = </a:t>
                </a: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loss_function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(predictions, </a:t>
                </a: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y_batch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</a:t>
                </a: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optimizer.zero_grad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# clears old gradients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</a:t>
                </a: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loss.backward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# computes new gradients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</a:t>
                </a: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optimizer.step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# updates parameters</a:t>
                </a:r>
              </a:p>
              <a:p>
                <a:pPr marL="0" indent="0">
                  <a:buNone/>
                </a:pP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So an </a:t>
                </a:r>
                <a:r>
                  <a:rPr lang="en-US" b="1" dirty="0">
                    <a:solidFill>
                      <a:schemeClr val="accent5"/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epoch</a:t>
                </a:r>
                <a:r>
                  <a:rPr lang="en-US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= one iteration over the entire dataset (all batches)</a:t>
                </a:r>
              </a:p>
              <a:p>
                <a:endParaRPr lang="en-TW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BCE64C-3ADA-0FEC-D17A-2CFC60EEE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454" y="1603953"/>
                <a:ext cx="11353800" cy="5096741"/>
              </a:xfrm>
              <a:blipFill>
                <a:blip r:embed="rId2"/>
                <a:stretch>
                  <a:fillRect l="-559" t="-2488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740C932-9E3D-EA47-118D-E3DD9F694F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64" t="29494" r="14152" b="18159"/>
          <a:stretch>
            <a:fillRect/>
          </a:stretch>
        </p:blipFill>
        <p:spPr>
          <a:xfrm>
            <a:off x="8077199" y="3275680"/>
            <a:ext cx="3519055" cy="226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1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D271-D06A-D508-1407-6E55DB24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7" y="129094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Training: Dataset Splits, and Why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E852-C501-A7CB-3393-BEC01CB56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45" y="1590098"/>
            <a:ext cx="10515600" cy="4810702"/>
          </a:xfrm>
        </p:spPr>
        <p:txBody>
          <a:bodyPr>
            <a:normAutofit fontScale="77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Training set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 (where the model learns weights)</a:t>
            </a:r>
          </a:p>
          <a:p>
            <a:pPr>
              <a:spcAft>
                <a:spcPts val="400"/>
              </a:spcAft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Forward pass: makes predictions</a:t>
            </a:r>
          </a:p>
          <a:p>
            <a:pPr>
              <a:spcAft>
                <a:spcPts val="400"/>
              </a:spcAft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Weight updates through </a:t>
            </a:r>
            <a:r>
              <a:rPr lang="en-TW" sz="24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backpropagation</a:t>
            </a:r>
          </a:p>
          <a:p>
            <a:pPr>
              <a:spcAft>
                <a:spcPts val="400"/>
              </a:spcAft>
            </a:pPr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Validation set 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(best setting selection, used repeatedly)</a:t>
            </a:r>
          </a:p>
          <a:p>
            <a:pPr>
              <a:spcAft>
                <a:spcPts val="400"/>
              </a:spcAft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Forward pass only: makes predictions, no weight updates</a:t>
            </a:r>
          </a:p>
          <a:p>
            <a:pPr>
              <a:spcAft>
                <a:spcPts val="400"/>
              </a:spcAft>
            </a:pPr>
            <a:r>
              <a:rPr lang="en-TW" sz="24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Hyperparameter </a:t>
            </a: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tuning, e.g., learning rate</a:t>
            </a:r>
          </a:p>
          <a:p>
            <a:pPr>
              <a:spcAft>
                <a:spcPts val="400"/>
              </a:spcAft>
            </a:pPr>
            <a:r>
              <a:rPr lang="en-TW" sz="2400" i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Regularization</a:t>
            </a: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, e.g., early stopping</a:t>
            </a:r>
          </a:p>
          <a:p>
            <a:pPr>
              <a:spcAft>
                <a:spcPts val="400"/>
              </a:spcAft>
            </a:pPr>
            <a:endParaRPr lang="en-TW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TW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Test set </a:t>
            </a:r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(final exam, used once at the end)</a:t>
            </a:r>
          </a:p>
          <a:p>
            <a:pPr>
              <a:spcAft>
                <a:spcPts val="400"/>
              </a:spcAft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Forward pass only: makes predictions, no weight updates</a:t>
            </a:r>
          </a:p>
          <a:p>
            <a:pPr>
              <a:spcAft>
                <a:spcPts val="400"/>
              </a:spcAft>
            </a:pPr>
            <a:r>
              <a:rPr lang="en-TW" sz="24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Evaluation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99934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761E-847B-FBA1-5271-15ABAF35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8255"/>
            <a:ext cx="10515600" cy="1325563"/>
          </a:xfrm>
        </p:spPr>
        <p:txBody>
          <a:bodyPr/>
          <a:lstStyle/>
          <a:p>
            <a:r>
              <a:rPr lang="en-TW" dirty="0">
                <a:latin typeface="Euphemia UCAS" panose="020B0503040102020104" pitchFamily="34" charset="-79"/>
                <a:cs typeface="Euphemia UCAS" panose="020B0503040102020104" pitchFamily="34" charset="-79"/>
              </a:rPr>
              <a:t>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F376A-A102-64C9-C12A-E86B28AC9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309" y="1229879"/>
                <a:ext cx="11769436" cy="5374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TW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Classification</a:t>
                </a:r>
              </a:p>
              <a:p>
                <a:r>
                  <a:rPr lang="en-TW" sz="24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Confusion matrix</a:t>
                </a:r>
              </a:p>
              <a:p>
                <a:endParaRPr lang="en-TW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TW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r>
                  <a:rPr lang="en-TW" sz="2400" dirty="0">
                    <a:solidFill>
                      <a:schemeClr val="bg2">
                        <a:lumMod val="7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Metrics: accuracy, precision, recall, F1 score, etc.</a:t>
                </a:r>
              </a:p>
              <a:p>
                <a:endParaRPr lang="en-TW" dirty="0"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pPr marL="0" indent="0">
                  <a:buNone/>
                </a:pPr>
                <a:r>
                  <a:rPr lang="en-TW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Regression</a:t>
                </a:r>
              </a:p>
              <a:p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RMSE (root mean squared error) </a:t>
                </a:r>
                <a14:m>
                  <m:oMath xmlns:m="http://schemas.openxmlformats.org/officeDocument/2006/math">
                    <m:r>
                      <a:rPr lang="en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same unit as predictions, easier interpretation</a:t>
                </a:r>
              </a:p>
              <a:p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R-squared (</a:t>
                </a:r>
                <a:r>
                  <a:rPr lang="en-TW" sz="2400" i="1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it can be negative</a:t>
                </a:r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):</a:t>
                </a:r>
              </a:p>
              <a:p>
                <a:pPr marL="0" indent="0">
                  <a:buNone/>
                </a:pPr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How much of the variance in the target the model explains</a:t>
                </a:r>
              </a:p>
              <a:p>
                <a:pPr marL="0" indent="0">
                  <a:buNone/>
                </a:pPr>
                <a:r>
                  <a:rPr lang="en-TW" sz="2400" dirty="0"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    vs always predicting the mean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F376A-A102-64C9-C12A-E86B28AC9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09" y="1229879"/>
                <a:ext cx="11769436" cy="5374338"/>
              </a:xfrm>
              <a:blipFill>
                <a:blip r:embed="rId2"/>
                <a:stretch>
                  <a:fillRect l="-1078" t="-2123" r="-647" b="-708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64DDF3-05C1-5E9B-0F17-C1BAA764BF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69" t="26728" r="38216" b="21465"/>
          <a:stretch>
            <a:fillRect/>
          </a:stretch>
        </p:blipFill>
        <p:spPr>
          <a:xfrm>
            <a:off x="3475861" y="681036"/>
            <a:ext cx="3657600" cy="237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78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2CD1E-16A8-ED70-A5EE-78874F6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FCFF5E0B-F6B6-80B5-8199-41FC3643C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"/>
                    </a14:imgEffect>
                    <a14:imgEffect>
                      <a14:brightnessContrast bright="-73000" contrast="-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99765" y="-36862"/>
            <a:ext cx="12713437" cy="699184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D3BF0D-FFCA-0A1B-ECC2-5E42AB62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11353799" y="1690688"/>
            <a:ext cx="450273" cy="2022330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C1154-1B53-B5A8-1CA8-4561A07C06E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9" y="4544291"/>
            <a:ext cx="242455" cy="1632672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0A674-0866-0BB2-C613-8A529DF992B2}"/>
              </a:ext>
            </a:extLst>
          </p:cNvPr>
          <p:cNvSpPr txBox="1"/>
          <p:nvPr/>
        </p:nvSpPr>
        <p:spPr>
          <a:xfrm>
            <a:off x="446808" y="2313709"/>
            <a:ext cx="11132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How This Actually Runs on</a:t>
            </a:r>
          </a:p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a Computer: Enough Slides, </a:t>
            </a:r>
            <a:r>
              <a:rPr lang="en-TW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Summon t</a:t>
            </a:r>
            <a:r>
              <a:rPr lang="en-US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TW" sz="4800" b="1" dirty="0">
                <a:solidFill>
                  <a:schemeClr val="bg2">
                    <a:lumMod val="90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 Code</a:t>
            </a:r>
            <a:endParaRPr lang="en-TW" sz="4800" b="1" dirty="0">
              <a:solidFill>
                <a:schemeClr val="bg2">
                  <a:lumMod val="90000"/>
                </a:schemeClr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08389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5F76-68C8-3A03-C929-2F95CE87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7C3DB1-3167-269E-1571-E212C877A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brightnessContrast bright="-69000" contrast="-3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444448" cy="69965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94957C-4FB3-D00A-785E-54519333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804071" y="3075708"/>
            <a:ext cx="387928" cy="637309"/>
          </a:xfrm>
        </p:spPr>
        <p:txBody>
          <a:bodyPr>
            <a:normAutofit fontScale="90000"/>
          </a:bodyPr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3E370-71FA-EF9A-4D48-BA2BD40A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4071" y="5831397"/>
            <a:ext cx="1094510" cy="955564"/>
          </a:xfrm>
        </p:spPr>
        <p:txBody>
          <a:bodyPr/>
          <a:lstStyle/>
          <a:p>
            <a:endParaRPr lang="en-T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DC48C-CB07-26DD-4379-5650B0A6D57E}"/>
              </a:ext>
            </a:extLst>
          </p:cNvPr>
          <p:cNvSpPr txBox="1"/>
          <p:nvPr/>
        </p:nvSpPr>
        <p:spPr>
          <a:xfrm>
            <a:off x="529936" y="2558855"/>
            <a:ext cx="11132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That’s All from My Neurons</a:t>
            </a:r>
          </a:p>
          <a:p>
            <a:pPr algn="ctr"/>
            <a:r>
              <a:rPr lang="en-TW" sz="4800" b="1" dirty="0">
                <a:solidFill>
                  <a:schemeClr val="bg1"/>
                </a:solidFill>
              </a:rPr>
              <a:t>— Thanks for Staying in Phase </a:t>
            </a:r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  <a:sym typeface="Wingdings" pitchFamily="2" charset="2"/>
              </a:rPr>
              <a:t></a:t>
            </a:r>
            <a:endParaRPr lang="en-TW" sz="4800" b="1" dirty="0">
              <a:solidFill>
                <a:schemeClr val="bg1"/>
              </a:solidFill>
              <a:latin typeface="Euphemia UCAS" panose="020B0503040102020104" pitchFamily="34" charset="-79"/>
              <a:cs typeface="Euphemia UCAS" panose="020B0503040102020104" pitchFamily="34" charset="-79"/>
            </a:endParaRPr>
          </a:p>
          <a:p>
            <a:pPr algn="ctr"/>
            <a:r>
              <a:rPr lang="en-TW" sz="4800" b="1" dirty="0">
                <a:solidFill>
                  <a:schemeClr val="bg1"/>
                </a:solidFill>
                <a:latin typeface="Euphemia UCAS" panose="020B0503040102020104" pitchFamily="34" charset="-79"/>
                <a:cs typeface="Euphemia UCAS" panose="020B0503040102020104" pitchFamily="34" charset="-79"/>
              </a:rPr>
              <a:t>Now Let’s Fire Some Questions!</a:t>
            </a:r>
          </a:p>
        </p:txBody>
      </p:sp>
    </p:spTree>
    <p:extLst>
      <p:ext uri="{BB962C8B-B14F-4D97-AF65-F5344CB8AC3E}">
        <p14:creationId xmlns:p14="http://schemas.microsoft.com/office/powerpoint/2010/main" val="3805464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466D-88D0-A34E-B0FF-2CA89BCD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F3C1E-865A-E5BF-4F68-0F23808E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3159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9502</TotalTime>
  <Words>1434</Words>
  <Application>Microsoft Macintosh PowerPoint</Application>
  <PresentationFormat>Widescreen</PresentationFormat>
  <Paragraphs>213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Courier New</vt:lpstr>
      <vt:lpstr>Euphemia UCAS</vt:lpstr>
      <vt:lpstr>Times New Roman</vt:lpstr>
      <vt:lpstr>Office Theme</vt:lpstr>
      <vt:lpstr>From Raw EEG to Embeddings: Task Label Prediction via Machine Learning</vt:lpstr>
      <vt:lpstr>PowerPoint Presentation</vt:lpstr>
      <vt:lpstr>Neuron vs Neuron</vt:lpstr>
      <vt:lpstr>Epoch vs Epoch</vt:lpstr>
      <vt:lpstr>PowerPoint Presentation</vt:lpstr>
      <vt:lpstr>PowerPoint Presentation</vt:lpstr>
      <vt:lpstr>Back to Basics: What Are EEGs?</vt:lpstr>
      <vt:lpstr>Why EEG Is Messy: Forward Model</vt:lpstr>
      <vt:lpstr>Challenges in Encoding EEGs</vt:lpstr>
      <vt:lpstr>Datasets</vt:lpstr>
      <vt:lpstr>Datesets</vt:lpstr>
      <vt:lpstr>Pipeline: EEG → Model (EEGNeX)→ RT (Response Time)</vt:lpstr>
      <vt:lpstr>Tools</vt:lpstr>
      <vt:lpstr>PowerPoint Presentation</vt:lpstr>
      <vt:lpstr>PowerPoint Presentation</vt:lpstr>
      <vt:lpstr>Models: What Are Neural Networks?</vt:lpstr>
      <vt:lpstr>Models: Basic DNN (Fully Connected, Dense)</vt:lpstr>
      <vt:lpstr>Models: CNN (Convolutional Neural Network)</vt:lpstr>
      <vt:lpstr>EEG: Spatial × Temporal Structure</vt:lpstr>
      <vt:lpstr>Training: How Does a Model “Learn”?</vt:lpstr>
      <vt:lpstr>Training: Gradient Descent</vt:lpstr>
      <vt:lpstr>Training: Dataset Splits, and Why</vt:lpstr>
      <vt:lpstr>Evaluation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32</cp:revision>
  <dcterms:created xsi:type="dcterms:W3CDTF">2025-11-28T21:31:36Z</dcterms:created>
  <dcterms:modified xsi:type="dcterms:W3CDTF">2025-12-06T06:43:56Z</dcterms:modified>
</cp:coreProperties>
</file>